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TOOL WEAR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72865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 i="1">
                <a:solidFill>
                  <a:srgbClr val="CBD5E1"/>
                </a:solidFill>
                <a:latin typeface="Calibri"/>
              </a:rPr>
              <a:t>A layered methodology study on the PHM tool wear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4114800" cy="1371600"/>
          </a:xfrm>
          <a:prstGeom prst="rect">
            <a:avLst/>
          </a:prstGeom>
          <a:solidFill>
            <a:srgbClr val="142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BD5E1"/>
                </a:solidFill>
                <a:latin typeface="Calibri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10 experiments  ·  1 tool (T01)  ·  Target: VB_µm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BD5E1"/>
                </a:solidFill>
                <a:latin typeface="Calibri"/>
              </a:rP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LOEO-CV  ·  10 folds  ·  honest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114800"/>
            <a:ext cx="4114800" cy="1371600"/>
          </a:xfrm>
          <a:prstGeom prst="rect">
            <a:avLst/>
          </a:prstGeom>
          <a:solidFill>
            <a:srgbClr val="142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425196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BD5E1"/>
                </a:solidFill>
                <a:latin typeface="Calibri"/>
              </a:rPr>
              <a:t>Best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52628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ElasticNet  →  MAE = 26.92 µm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98348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BD5E1"/>
                </a:solidFill>
                <a:latin typeface="Calibri"/>
              </a:rPr>
              <a:t>Winning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21208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A_ST_feature_noise (no tuning, augmented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The pipeline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From raw data D, two parallel data branches (Normal / Augmented), three tuning options, single LOEO-CV evaluator, ranking, then SHAP.</a:t>
            </a:r>
          </a:p>
        </p:txBody>
      </p:sp>
      <p:pic>
        <p:nvPicPr>
          <p:cNvPr id="5" name="Picture 4" descr="00_layered_flow_diagram_no_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247" y="1417320"/>
            <a:ext cx="807719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D9742B"/>
                </a:solidFill>
                <a:latin typeface="Calibri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2865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Data Quality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1" dirty="0">
                <a:solidFill>
                  <a:srgbClr val="CBD5E1"/>
                </a:solidFill>
                <a:latin typeface="Calibri"/>
              </a:rPr>
              <a:t>Before training any model: what do we actually have on disk, and is the target variable usable? Ten experiments, one tool</a:t>
            </a:r>
            <a:r>
              <a:rPr lang="es-ES" sz="1800" b="0" i="1" dirty="0">
                <a:solidFill>
                  <a:srgbClr val="CBD5E1"/>
                </a:solidFill>
                <a:latin typeface="Calibri"/>
              </a:rPr>
              <a:t> </a:t>
            </a:r>
            <a:r>
              <a:rPr lang="es-ES" sz="1800" b="0" i="1" dirty="0" err="1">
                <a:solidFill>
                  <a:srgbClr val="CBD5E1"/>
                </a:solidFill>
                <a:latin typeface="Calibri"/>
              </a:rPr>
              <a:t>life</a:t>
            </a:r>
            <a:r>
              <a:rPr lang="es-ES" sz="1800" b="0" i="1" dirty="0">
                <a:solidFill>
                  <a:srgbClr val="CBD5E1"/>
                </a:solidFill>
                <a:latin typeface="Calibri"/>
              </a:rPr>
              <a:t> </a:t>
            </a:r>
            <a:r>
              <a:rPr lang="es-ES" sz="1800" b="0" i="1" dirty="0" err="1">
                <a:solidFill>
                  <a:srgbClr val="CBD5E1"/>
                </a:solidFill>
                <a:latin typeface="Calibri"/>
              </a:rPr>
              <a:t>cycle</a:t>
            </a:r>
            <a:r>
              <a:rPr sz="1800" b="0" i="1" dirty="0">
                <a:solidFill>
                  <a:srgbClr val="CBD5E1"/>
                </a:solidFill>
                <a:latin typeface="Calibri"/>
              </a:rPr>
              <a:t>, contact-mounted measurements.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What is on disk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Per-experiment file inventory and missing-segment audit.</a:t>
            </a:r>
          </a:p>
        </p:txBody>
      </p:sp>
      <p:pic>
        <p:nvPicPr>
          <p:cNvPr id="5" name="Picture 4" descr="raw_file_count_by_exper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17006"/>
            <a:ext cx="5760720" cy="2829827"/>
          </a:xfrm>
          <a:prstGeom prst="rect">
            <a:avLst/>
          </a:prstGeom>
        </p:spPr>
      </p:pic>
      <p:pic>
        <p:nvPicPr>
          <p:cNvPr id="6" name="Picture 5" descr="missing_segments_by_experi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17006"/>
            <a:ext cx="5760720" cy="28298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4652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Files per experiment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4652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Missing segments by experiment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The target variable VB_µm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Range, distribution and trajectory across the 10 experiments. No replicates per experiment — each VB is a single measurement.</a:t>
            </a:r>
          </a:p>
        </p:txBody>
      </p:sp>
      <p:pic>
        <p:nvPicPr>
          <p:cNvPr id="5" name="Picture 4" descr="vb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25566"/>
            <a:ext cx="5760720" cy="2829827"/>
          </a:xfrm>
          <a:prstGeom prst="rect">
            <a:avLst/>
          </a:prstGeom>
        </p:spPr>
      </p:pic>
      <p:pic>
        <p:nvPicPr>
          <p:cNvPr id="6" name="Picture 5" descr="vb_vs_experiment_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426944"/>
            <a:ext cx="5760720" cy="28270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VB_µm distribution (n=10)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VB_µm versus experiment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D9742B"/>
                </a:solidFill>
                <a:latin typeface="Calibri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2865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Baseline — N_ST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1">
                <a:solidFill>
                  <a:srgbClr val="CBD5E1"/>
                </a:solidFill>
                <a:latin typeface="Calibri"/>
              </a:rPr>
              <a:t>Normal data, no tuning, no augmentation. Eight regressors trained with default hyper-parameters. This is the bar everything else must beat.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Baseline performance (N_ST)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ElasticNet emerges as the strongest baseline. Tree-based and kernel models underperform with only 8 training rows.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4754880" cy="438912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5B7A9C"/>
                </a:solidFill>
                <a:latin typeface="Calibri"/>
              </a:rPr>
              <a:t>BASELINE  (N_ST)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45720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200" b="1" i="0">
                <a:solidFill>
                  <a:srgbClr val="1F3A5F"/>
                </a:solidFill>
                <a:latin typeface="Calibri"/>
              </a:rPr>
              <a:t>MAE  26.96 µm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45720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RMSE  37.88 µm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45720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R²  0.602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45720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MAPE  17.0 %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winning model: ElasticNet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config: normal data, no tuning, no augmentation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training rows: 8  ·  test rows: 1 per fold  ·  10 folds</a:t>
            </a:r>
          </a:p>
        </p:txBody>
      </p:sp>
      <p:pic>
        <p:nvPicPr>
          <p:cNvPr id="14" name="Picture 13" descr="09_branch_performance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310516"/>
            <a:ext cx="6309360" cy="33342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0" y="6492240"/>
            <a:ext cx="6309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MAE by branch — N_ST highlighted in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D9742B"/>
                </a:solidFill>
                <a:latin typeface="Calibri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2865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Tuning Effect — Does It Help?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1">
                <a:solidFill>
                  <a:srgbClr val="CBD5E1"/>
                </a:solidFill>
                <a:latin typeface="Calibri"/>
              </a:rPr>
              <a:t>RandomizedSearchCV vs GridSearchCV on top of normal data. Search is performed once over the train pool with internal GroupKFold; best params are then reused inside LOEO folds.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Tuning effect by data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Random vs Grid vs no-tuning. With n=8 train rows, search spaces are intentionally small — tuning can only do so much.</a:t>
            </a:r>
          </a:p>
        </p:txBody>
      </p:sp>
      <p:pic>
        <p:nvPicPr>
          <p:cNvPr id="5" name="Picture 4" descr="09_tuning_effect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0259"/>
            <a:ext cx="5760720" cy="2851881"/>
          </a:xfrm>
          <a:prstGeom prst="rect">
            <a:avLst/>
          </a:prstGeom>
        </p:spPr>
      </p:pic>
      <p:pic>
        <p:nvPicPr>
          <p:cNvPr id="6" name="Picture 5" descr="09_tuning_effect_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460259"/>
            <a:ext cx="5760720" cy="2851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RMSE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Random vs Grid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With such small search spaces the two methods converge on the same hyper-parameters — Random and Grid produce identical metrics for most models. Grid did not find anything Random missed.</a:t>
            </a:r>
          </a:p>
        </p:txBody>
      </p:sp>
      <p:pic>
        <p:nvPicPr>
          <p:cNvPr id="5" name="Picture 4" descr="09_random_vs_grid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99191"/>
            <a:ext cx="9418320" cy="3574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6492240"/>
            <a:ext cx="9418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MAE — Random vs Grid across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D9742B"/>
                </a:solidFill>
                <a:latin typeface="Calibri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2865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Data Augmentation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1">
                <a:solidFill>
                  <a:srgbClr val="CBD5E1"/>
                </a:solidFill>
                <a:latin typeface="Calibri"/>
              </a:rPr>
              <a:t>Three perturbation strategies applied to training rows only: feature_noise (Gaussian), feature_scaling (multiplicative), grouped_scaling (per feature-group). Real test rows are never touched.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Augmentation effect by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Augmentation alone (A_ST) is essentially neutral on MAE. feature_scaling visibly reduces RMSE — outliers shrink.</a:t>
            </a:r>
          </a:p>
        </p:txBody>
      </p:sp>
      <p:pic>
        <p:nvPicPr>
          <p:cNvPr id="5" name="Picture 4" descr="09_augmentation_effect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0259"/>
            <a:ext cx="5760720" cy="2851881"/>
          </a:xfrm>
          <a:prstGeom prst="rect">
            <a:avLst/>
          </a:prstGeom>
        </p:spPr>
      </p:pic>
      <p:pic>
        <p:nvPicPr>
          <p:cNvPr id="6" name="Picture 5" descr="09_augmentation_effect_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460259"/>
            <a:ext cx="5760720" cy="2851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RMSE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D9742B"/>
                </a:solidFill>
                <a:latin typeface="Calibri"/>
              </a:rPr>
              <a:t>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2865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Branch-Level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1">
                <a:solidFill>
                  <a:srgbClr val="CBD5E1"/>
                </a:solidFill>
                <a:latin typeface="Calibri"/>
              </a:rPr>
              <a:t>All twelve branches side by side: per-branch best, deltas against baseline, and full model × branch heatmaps.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Δ versus baseline N_ST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Negative = improves. Most branches sit within a "practical tie" band (|Δ MAE| &lt; 1 µm). The only branch with a clear MAE bump is A_CT_*_feature_noise (Lasso falls apart).</a:t>
            </a:r>
          </a:p>
        </p:txBody>
      </p:sp>
      <p:pic>
        <p:nvPicPr>
          <p:cNvPr id="5" name="Picture 4" descr="09_delta_MAE_vs_baseline_N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64043"/>
            <a:ext cx="5760720" cy="3044313"/>
          </a:xfrm>
          <a:prstGeom prst="rect">
            <a:avLst/>
          </a:prstGeom>
        </p:spPr>
      </p:pic>
      <p:pic>
        <p:nvPicPr>
          <p:cNvPr id="6" name="Picture 5" descr="09_delta_RMSE_vs_baseline_N_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364043"/>
            <a:ext cx="5760720" cy="30443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Δ 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Δ RMSE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Model × branch heatmap — MAE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Linear models (Ridge, Lasso, ElasticNet) dominate. Nonlinear models suffer the small-sample curse.</a:t>
            </a:r>
          </a:p>
        </p:txBody>
      </p:sp>
      <p:pic>
        <p:nvPicPr>
          <p:cNvPr id="5" name="Picture 4" descr="09_heatmap_model_vs_branch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75" y="1417320"/>
            <a:ext cx="9858743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Model × branch heatmap — R²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Same shape: linear-regularized methods explain the most variance; tree ensembles often go negative.</a:t>
            </a:r>
          </a:p>
        </p:txBody>
      </p:sp>
      <p:pic>
        <p:nvPicPr>
          <p:cNvPr id="5" name="Picture 4" descr="09_heatmap_model_vs_branch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75" y="1417320"/>
            <a:ext cx="9858743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Best model per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ElasticNet wins ten out of twelve branches; the remaining two (A_CT_*_feature_noise) collapse onto Lasso.</a:t>
            </a:r>
          </a:p>
        </p:txBody>
      </p:sp>
      <p:pic>
        <p:nvPicPr>
          <p:cNvPr id="5" name="Picture 4" descr="09_best_model_per_branch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56" y="1417320"/>
            <a:ext cx="948798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Branch performance — MAE &amp; RMSE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Lower is better. The 12 branches cluster in a tight band, with A_ST_feature_noise marginally on top by MAE.</a:t>
            </a:r>
          </a:p>
        </p:txBody>
      </p:sp>
      <p:pic>
        <p:nvPicPr>
          <p:cNvPr id="5" name="Picture 4" descr="09_branch_performance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64043"/>
            <a:ext cx="5760720" cy="3044313"/>
          </a:xfrm>
          <a:prstGeom prst="rect">
            <a:avLst/>
          </a:prstGeom>
        </p:spPr>
      </p:pic>
      <p:pic>
        <p:nvPicPr>
          <p:cNvPr id="6" name="Picture 5" descr="09_branch_performance_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364043"/>
            <a:ext cx="5760720" cy="30443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RMSE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Branch performance — R² &amp; MAPE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R² ranking partly disagrees with MAE: A_CT_feature_scaling branches score the highest R² (better calibrated residuals).</a:t>
            </a:r>
          </a:p>
        </p:txBody>
      </p:sp>
      <p:pic>
        <p:nvPicPr>
          <p:cNvPr id="5" name="Picture 4" descr="09_branch_performance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66010"/>
            <a:ext cx="5760720" cy="3040380"/>
          </a:xfrm>
          <a:prstGeom prst="rect">
            <a:avLst/>
          </a:prstGeom>
        </p:spPr>
      </p:pic>
      <p:pic>
        <p:nvPicPr>
          <p:cNvPr id="6" name="Picture 5" descr="09_branch_performance_M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364043"/>
            <a:ext cx="5760720" cy="30443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R²  (higher is better)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MAPE  (lower is better)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D9742B"/>
                </a:solidFill>
                <a:latin typeface="Calibri"/>
              </a:rPr>
              <a:t>STEP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2865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Sequential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1">
                <a:solidFill>
                  <a:srgbClr val="CBD5E1"/>
                </a:solidFill>
                <a:latin typeface="Calibri"/>
              </a:rPr>
              <a:t>Following a practitioner's mental walk: baseline → tuning → augmentation → both. Did each layer of complexity pay off?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Sequential dashboard — MAE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Four panels showing the four moves a practitioner would try. On MAE, the gains across stages are within noise (n=10).</a:t>
            </a:r>
          </a:p>
        </p:txBody>
      </p:sp>
      <p:pic>
        <p:nvPicPr>
          <p:cNvPr id="5" name="Picture 4" descr="09_sequential_comparison_dashboard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328" y="1417320"/>
            <a:ext cx="678503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Sequential dashboard — RMSE &amp; R²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On RMSE the picture changes: tuning + augmentation does cut tail error, and R² improves visibly when both are combined.</a:t>
            </a:r>
          </a:p>
        </p:txBody>
      </p:sp>
      <p:pic>
        <p:nvPicPr>
          <p:cNvPr id="5" name="Picture 4" descr="09_sequential_comparison_dashboard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51222"/>
            <a:ext cx="5760720" cy="4269955"/>
          </a:xfrm>
          <a:prstGeom prst="rect">
            <a:avLst/>
          </a:prstGeom>
        </p:spPr>
      </p:pic>
      <p:pic>
        <p:nvPicPr>
          <p:cNvPr id="6" name="Picture 5" descr="09_sequential_comparison_dashboard_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751222"/>
            <a:ext cx="5760720" cy="42699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R²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Model evolution — MAE &amp; RMSE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Six progressive stages on the same model. Δ between consecutive stages annotated (green=better, red=worse).</a:t>
            </a:r>
          </a:p>
        </p:txBody>
      </p:sp>
      <p:pic>
        <p:nvPicPr>
          <p:cNvPr id="5" name="Picture 4" descr="09_model_evolution_MAE_LO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47794"/>
            <a:ext cx="5760720" cy="2676810"/>
          </a:xfrm>
          <a:prstGeom prst="rect">
            <a:avLst/>
          </a:prstGeom>
        </p:spPr>
      </p:pic>
      <p:pic>
        <p:nvPicPr>
          <p:cNvPr id="6" name="Picture 5" descr="09_model_evolution_RMSE_LO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47794"/>
            <a:ext cx="5760720" cy="2676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RMSE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Model evolution — R² &amp; MAPE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R² improves clearly once tuning is added on augmented data. MAPE stays remarkably stable (~17 %), suggesting that the percentage error floor is data-driven, not model-driven.</a:t>
            </a:r>
          </a:p>
        </p:txBody>
      </p:sp>
      <p:pic>
        <p:nvPicPr>
          <p:cNvPr id="5" name="Picture 4" descr="09_model_evolution_R2_LO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47794"/>
            <a:ext cx="5760720" cy="2676810"/>
          </a:xfrm>
          <a:prstGeom prst="rect">
            <a:avLst/>
          </a:prstGeom>
        </p:spPr>
      </p:pic>
      <p:pic>
        <p:nvPicPr>
          <p:cNvPr id="6" name="Picture 5" descr="09_model_evolution_MAPE_LO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47794"/>
            <a:ext cx="5760720" cy="2676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MAPE  (%)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D9742B"/>
                </a:solidFill>
                <a:latin typeface="Calibri"/>
              </a:rPr>
              <a:t>STEP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2865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Predictions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1">
                <a:solidFill>
                  <a:srgbClr val="CBD5E1"/>
                </a:solidFill>
                <a:latin typeface="Calibri"/>
              </a:rPr>
              <a:t>How the predicted VB values line up against the truth, fold by fold. Multi-configuration overlays first, then a deeper look at the best global model.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Actual vs predicted — five configurations overlaid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Five colors trace baseline, tuned, augmented, augmented+tuned, and best global. Predictions cluster in the same diagonal — the gain from each stage is small.</a:t>
            </a:r>
          </a:p>
        </p:txBody>
      </p:sp>
      <p:pic>
        <p:nvPicPr>
          <p:cNvPr id="5" name="Picture 4" descr="09_actual_vs_predicted_multi_LO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170" y="1417320"/>
            <a:ext cx="710135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Residuals by experiment — five configurations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Experiment-by-experiment view: the largest residuals occur on a small number of experiments (likely outliers in VB range) — all configurations miss the same ones.</a:t>
            </a:r>
          </a:p>
        </p:txBody>
      </p:sp>
      <p:pic>
        <p:nvPicPr>
          <p:cNvPr id="5" name="Picture 4" descr="09_residuals_by_experiment_multi_LO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59" y="1417320"/>
            <a:ext cx="1097877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Best global model — ElasticNet on A_ST_feature_noise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Predicted vs actual diagonal and residuals scatter for the winning configuration in LOEO.</a:t>
            </a:r>
          </a:p>
        </p:txBody>
      </p:sp>
      <p:pic>
        <p:nvPicPr>
          <p:cNvPr id="5" name="Picture 4" descr="09_actual_vs_predicted_best_global_LO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32916"/>
            <a:ext cx="5760720" cy="4906566"/>
          </a:xfrm>
          <a:prstGeom prst="rect">
            <a:avLst/>
          </a:prstGeom>
        </p:spPr>
      </p:pic>
      <p:pic>
        <p:nvPicPr>
          <p:cNvPr id="6" name="Picture 5" descr="09_residuals_best_global_LO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48088"/>
            <a:ext cx="5760720" cy="40762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Actual vs predicted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Residuals vs predicted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Best global — residuals per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Each bar is one held-out experiment. The error budget is concentrated in 2–3 experiments at the extremes of the VB range.</a:t>
            </a:r>
          </a:p>
        </p:txBody>
      </p:sp>
      <p:pic>
        <p:nvPicPr>
          <p:cNvPr id="5" name="Picture 4" descr="09_residuals_by_experiment_best_global_LO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255" y="1417320"/>
            <a:ext cx="1020118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D9742B"/>
                </a:solidFill>
                <a:latin typeface="Calibri"/>
              </a:rPr>
              <a:t>STEP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2865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SHAP — Interpretability (Final Step)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655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1">
                <a:solidFill>
                  <a:srgbClr val="CBD5E1"/>
                </a:solidFill>
                <a:latin typeface="Calibri"/>
              </a:rPr>
              <a:t>SHAP runs strictly after the metrics have chosen the best models. It does not train, does not tune, does not pick the winner — it only explains why the winning models predict what they predict.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SHAP — ElasticNet on baseline (N_ST)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Mean |SHAP| feature ranking (bar) and signed per-experiment contributions (beeswarm) for the baseline configuration.</a:t>
            </a:r>
          </a:p>
        </p:txBody>
      </p:sp>
      <p:pic>
        <p:nvPicPr>
          <p:cNvPr id="5" name="Picture 4" descr="10_shap_bar_elasticnet_n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53004"/>
            <a:ext cx="5760720" cy="4066390"/>
          </a:xfrm>
          <a:prstGeom prst="rect">
            <a:avLst/>
          </a:prstGeom>
        </p:spPr>
      </p:pic>
      <p:pic>
        <p:nvPicPr>
          <p:cNvPr id="6" name="Picture 5" descr="10_shap_summary_elasticnet_n_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411" y="1417320"/>
            <a:ext cx="3996857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Mean |SHAP| importance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Beeswarm — signed contributions per experiment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SHAP — ElasticNet on best branch (A_ST_feature_noise)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Same model family, slightly different training noise. The top features are largely the same — confidence that the ranking is not an artefact of one specific augmentation.</a:t>
            </a:r>
          </a:p>
        </p:txBody>
      </p:sp>
      <p:pic>
        <p:nvPicPr>
          <p:cNvPr id="5" name="Picture 4" descr="10_shap_bar_elasticnet_a_st_feature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53004"/>
            <a:ext cx="5760720" cy="4066390"/>
          </a:xfrm>
          <a:prstGeom prst="rect">
            <a:avLst/>
          </a:prstGeom>
        </p:spPr>
      </p:pic>
      <p:pic>
        <p:nvPicPr>
          <p:cNvPr id="6" name="Picture 5" descr="10_shap_summary_elasticnet_a_st_feature_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411" y="1417320"/>
            <a:ext cx="3996857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Mean |SHAP| importance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Beeswarm — signed contributions per experiment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SHAP — XGBoost on N_CT_random (best nonlinear)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A nonlinear sanity check. XGBoost surfaces partially different features and interactions, but the dominant signal overlaps with the linear models.</a:t>
            </a:r>
          </a:p>
        </p:txBody>
      </p:sp>
      <p:pic>
        <p:nvPicPr>
          <p:cNvPr id="5" name="Picture 4" descr="10_shap_bar_xgboost_n_ct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53004"/>
            <a:ext cx="5760720" cy="4066390"/>
          </a:xfrm>
          <a:prstGeom prst="rect">
            <a:avLst/>
          </a:prstGeom>
        </p:spPr>
      </p:pic>
      <p:pic>
        <p:nvPicPr>
          <p:cNvPr id="6" name="Picture 5" descr="10_shap_summary_xgboost_n_ct_rand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411" y="1417320"/>
            <a:ext cx="3996857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Mean |SHAP| importance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6492240"/>
            <a:ext cx="5760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Beeswarm — signed contributions per experiment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D9742B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this study actually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86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D9742B"/>
                </a:solidFill>
                <a:latin typeface="Calibri"/>
              </a:rPr>
              <a:t>1.  Linear-regularized models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72865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ElasticNet dominates ten of twelve branches. Tree ensembles and kernels are starved by n=8 training 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41448"/>
            <a:ext cx="107286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D9742B"/>
                </a:solidFill>
                <a:latin typeface="Calibri"/>
              </a:rPr>
              <a:t>2.  Tuning barely moves the needle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1488"/>
            <a:ext cx="1072865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Random and Grid converge on the same hyper-parameters. Both deliver sub-1 µm MAE gains over the un-tuned baseline.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7286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D9742B"/>
                </a:solidFill>
                <a:latin typeface="Calibri"/>
              </a:rPr>
              <a:t>3.  Augmentation is roughly neutral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11296"/>
            <a:ext cx="1072865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feature_noise nudges MAE by ≈0.04 µm; feature_scaling improves RMSE by ≈0.8 µm. No strategy reshapes the ranking.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41063"/>
            <a:ext cx="107286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D9742B"/>
                </a:solidFill>
                <a:latin typeface="Calibri"/>
              </a:rPr>
              <a:t>4.  Twelve branches → one ElasticNet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61103"/>
            <a:ext cx="1072865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The branching study is most useful as evidence that the choice is robust: roughly the same model wins everywhere.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90872"/>
            <a:ext cx="107286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D9742B"/>
                </a:solidFill>
                <a:latin typeface="Calibri"/>
              </a:rPr>
              <a:t>5.  SHAP is the conclusion, not the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10912"/>
            <a:ext cx="1072865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It runs last, on real rows only, to describe — not decide — which features drive the predictions.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107286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D9742B"/>
                </a:solidFill>
                <a:latin typeface="Calibri"/>
              </a:rPr>
              <a:t>6.  Honest about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n = 10, one tool. Any |Δ| &lt; 5 µm should be read as noise.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1403</Words>
  <Application>Microsoft Office PowerPoint</Application>
  <PresentationFormat>Widescreen</PresentationFormat>
  <Paragraphs>134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MANUEL INOCENCIO PUSMA JURADO</cp:lastModifiedBy>
  <cp:revision>2</cp:revision>
  <dcterms:created xsi:type="dcterms:W3CDTF">2013-01-27T09:14:16Z</dcterms:created>
  <dcterms:modified xsi:type="dcterms:W3CDTF">2026-05-13T09:15:41Z</dcterms:modified>
  <cp:category/>
</cp:coreProperties>
</file>